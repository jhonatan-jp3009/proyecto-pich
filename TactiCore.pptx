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ato"/>
      <p:regular r:id="rId18"/>
      <p:bold r:id="rId19"/>
      <p:italic r:id="rId20"/>
      <p:boldItalic r:id="rId21"/>
    </p:embeddedFont>
    <p:embeddedFont>
      <p:font typeface="Urbanis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885BC4-579A-45D8-A688-D1FFF70A6BDF}">
  <a:tblStyle styleId="{7B885BC4-579A-45D8-A688-D1FFF70A6BD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22" Type="http://schemas.openxmlformats.org/officeDocument/2006/relationships/font" Target="fonts/Urbanist-regular.fntdata"/><Relationship Id="rId21" Type="http://schemas.openxmlformats.org/officeDocument/2006/relationships/font" Target="fonts/Lato-boldItalic.fntdata"/><Relationship Id="rId24" Type="http://schemas.openxmlformats.org/officeDocument/2006/relationships/font" Target="fonts/Urbanist-italic.fntdata"/><Relationship Id="rId23" Type="http://schemas.openxmlformats.org/officeDocument/2006/relationships/font" Target="fonts/Urbanis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ato-bold.fntdata"/><Relationship Id="rId1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b713cfc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8b713cfc9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8b713cfc9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8b713cfc9_0_1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8b78e51fd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a8b78e51fd_4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b713cfc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a8b713cfc9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8b713cfc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a8b713cfc9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8b713cfc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8b713cfc9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8b713cfc9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8b713cfc9_0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8b713cfc9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a8b713cfc9_0_3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8b713cfc9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a8b713cfc9_0_3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8b713cfc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8b713cfc9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8b713cfc9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8b713cfc9_0_4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465671" y="2405062"/>
            <a:ext cx="526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TACTI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381350" y="3301950"/>
            <a:ext cx="559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Plataforma SaaS IA: Análisis Táctico y Físico para Fútbol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715000" y="3890962"/>
            <a:ext cx="762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590925" y="4167187"/>
            <a:ext cx="5010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5" y="1177893"/>
            <a:ext cx="3555950" cy="173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5875" y="1177893"/>
            <a:ext cx="3555950" cy="173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6550" y="1112918"/>
            <a:ext cx="3555950" cy="17383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77950" y="1416018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Inicios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77950" y="1835118"/>
            <a:ext cx="307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Esta idea se dio al momento de pensar si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había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alguna IA que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ayudará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los jugadores y equipos de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fútbol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224000" y="1416025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Análisis</a:t>
            </a: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de referencia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224000" y="1835118"/>
            <a:ext cx="307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Gracias a que la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mayoría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las IAS son enfocadas a equipos del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alto rendimiento 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04675" y="1351043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Momento </a:t>
            </a:r>
            <a:r>
              <a:rPr b="1" lang="en-US" sz="21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 inflexion 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04675" y="1770150"/>
            <a:ext cx="33177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momento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más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importante para dar que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siguiéramos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con la idea era la falta de 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implementación</a:t>
            </a:r>
            <a:r>
              <a:rPr lang="en-US" sz="1425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de estas herramientas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447375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</a:t>
            </a:r>
            <a:r>
              <a:rPr b="1" lang="en-US" sz="3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laneación</a:t>
            </a:r>
            <a:r>
              <a:rPr b="1" lang="en-US" sz="3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b="1" lang="en-US" sz="3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elaboración</a:t>
            </a:r>
            <a:r>
              <a:rPr b="1" lang="en-US" sz="330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de tacticore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7542" y="3138823"/>
            <a:ext cx="5410825" cy="322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84925" y="3068605"/>
            <a:ext cx="3157870" cy="363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0243"/>
            <a:ext cx="3555950" cy="173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950243"/>
            <a:ext cx="3555950" cy="17383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50243"/>
            <a:ext cx="3555950" cy="173831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469731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El aumento</a:t>
            </a:r>
            <a:r>
              <a:rPr i="1" lang="en-US" sz="1200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se justifica </a:t>
            </a:r>
            <a:r>
              <a:rPr b="0" i="1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por nuevas funcionalidades IA, inflación y costos cloud.</a:t>
            </a:r>
            <a:endParaRPr/>
          </a:p>
        </p:txBody>
      </p:sp>
      <p:graphicFrame>
        <p:nvGraphicFramePr>
          <p:cNvPr id="114" name="Google Shape;114;p15"/>
          <p:cNvGraphicFramePr/>
          <p:nvPr/>
        </p:nvGraphicFramePr>
        <p:xfrm>
          <a:off x="571500" y="39743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{7B885BC4-579A-45D8-A688-D1FFF70A6BDF}</a:tableStyleId>
              </a:tblPr>
              <a:tblGrid>
                <a:gridCol w="4419600"/>
                <a:gridCol w="2209800"/>
                <a:gridCol w="2209800"/>
                <a:gridCol w="2209800"/>
              </a:tblGrid>
              <a:tr h="4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Tarifa Mensual (COP)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Premium Jugador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$39.900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$44.900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$49.900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Premium Equipo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$699.000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$799.000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$949.000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" name="Google Shape;115;p15"/>
          <p:cNvSpPr txBox="1"/>
          <p:nvPr/>
        </p:nvSpPr>
        <p:spPr>
          <a:xfrm>
            <a:off x="809625" y="2188368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Plan Free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09625" y="2607468"/>
            <a:ext cx="307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Chatbot IA básico, análisis limitados y funciones iniciales para atraer comunidad.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556075" y="2188368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Premium Jugador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556075" y="2607468"/>
            <a:ext cx="307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Análisis físico, IA personalizada, historial de rendimiento y prevención de lesiones.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02525" y="2188368"/>
            <a:ext cx="3233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Premium Equipo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02525" y="2607468"/>
            <a:ext cx="3079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Dashboards tácticos grupales, análisis de video, gestión de plantilla y comparativas.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571500" y="4402931"/>
            <a:ext cx="44196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991100" y="4402931"/>
            <a:ext cx="2209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200900" y="4402931"/>
            <a:ext cx="2209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9410700" y="4402931"/>
            <a:ext cx="2209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4864893"/>
            <a:ext cx="4419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991100" y="4864893"/>
            <a:ext cx="220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200900" y="4864893"/>
            <a:ext cx="220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9410700" y="4864893"/>
            <a:ext cx="220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5312568"/>
            <a:ext cx="4419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991100" y="5312568"/>
            <a:ext cx="220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200900" y="5312568"/>
            <a:ext cx="220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410700" y="5312568"/>
            <a:ext cx="2209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MODELO DE NEGOCIO: SAAS FREEMIUM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6200775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Ventas B2B son lentas al inicio. La confianza deportiva requiere demostración técnica en los primeros meses.</a:t>
            </a:r>
            <a:endParaRPr/>
          </a:p>
        </p:txBody>
      </p:sp>
      <p:graphicFrame>
        <p:nvGraphicFramePr>
          <p:cNvPr id="140" name="Google Shape;140;p16"/>
          <p:cNvGraphicFramePr/>
          <p:nvPr/>
        </p:nvGraphicFramePr>
        <p:xfrm>
          <a:off x="571500" y="1219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{7B885BC4-579A-45D8-A688-D1FFF70A6BDF}</a:tableStyleId>
              </a:tblPr>
              <a:tblGrid>
                <a:gridCol w="978100"/>
                <a:gridCol w="1545575"/>
                <a:gridCol w="2861825"/>
                <a:gridCol w="2716850"/>
                <a:gridCol w="2946650"/>
              </a:tblGrid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Free (Acum.)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Premium Jugador (Acum.)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Premium Equipo (Acum.)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</a:t>
                      </a:r>
                      <a:r>
                        <a:rPr lang="en-US" sz="135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Lanzamiento MVP Beta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Validación Precio (Jugador)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Ajustes Feedback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Demos a Clubes B2B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Negociación Equipos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Cierre 1er Equipo Premium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Lato"/>
                          <a:ea typeface="Lato"/>
                          <a:cs typeface="Lato"/>
                          <a:sym typeface="Lato"/>
                        </a:rPr>
                        <a:t>Optimización</a:t>
                      </a:r>
                      <a:r>
                        <a:rPr lang="en-US" sz="1350">
                          <a:latin typeface="Lato"/>
                          <a:ea typeface="Lato"/>
                          <a:cs typeface="Lato"/>
                          <a:sym typeface="Lato"/>
                        </a:rPr>
                        <a:t> de Funcionalidad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Estabilización Cloud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37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Caso de Éxito Documentado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Expansión Comercial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11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46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Cierre 2do Equipo Premium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Mes 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Metas </a:t>
                      </a:r>
                      <a:r>
                        <a:rPr lang="en-US" sz="1350"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 Cumplidas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" name="Google Shape;141;p16"/>
          <p:cNvSpPr/>
          <p:nvPr/>
        </p:nvSpPr>
        <p:spPr>
          <a:xfrm>
            <a:off x="571500" y="1571625"/>
            <a:ext cx="978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549598" y="1571625"/>
            <a:ext cx="15456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3095178" y="1571625"/>
            <a:ext cx="28617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956994" y="1571625"/>
            <a:ext cx="2716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673851" y="1571625"/>
            <a:ext cx="29466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571500" y="1957387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549598" y="1957387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095178" y="1957387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5956994" y="1957387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673851" y="1957387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71500" y="2328862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1549598" y="2328862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3095178" y="2328862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956994" y="2328862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673851" y="2328862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1500" y="2700337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1549598" y="2700337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095178" y="2700337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956994" y="2700337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673851" y="2700337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71500" y="3071812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1549598" y="3071812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095178" y="3071812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956994" y="3071812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8673851" y="3071812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71500" y="3443287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1549598" y="3443287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3095178" y="3443287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5956994" y="3443287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8673851" y="3443287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571500" y="3814762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1549598" y="3814762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095178" y="3814762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5956994" y="3814762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8673851" y="3814762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71500" y="4186237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549598" y="4186237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3095178" y="4186237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5956994" y="4186237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8673851" y="4186237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571500" y="4557712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1549598" y="4557712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095178" y="4557712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956994" y="4557712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8673851" y="4557712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71500" y="4929187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549598" y="4929187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3095178" y="4929187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5956994" y="4929187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8673851" y="4929187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571500" y="5300662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1549598" y="5300662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3095178" y="5300662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5956994" y="5300662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8673851" y="5300662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571500" y="5672137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1549598" y="5672137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3095178" y="5672137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5956994" y="5672137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8673851" y="5672137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571500" y="6043612"/>
            <a:ext cx="97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1549598" y="6043612"/>
            <a:ext cx="1545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3095178" y="6043612"/>
            <a:ext cx="2861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956994" y="6043612"/>
            <a:ext cx="271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8673851" y="6043612"/>
            <a:ext cx="2946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571500" y="428625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CRECIMIENTO MES A MES (AÑO 1)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5188" y="1895993"/>
            <a:ext cx="5381625" cy="258603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7"/>
          <p:cNvSpPr txBox="1"/>
          <p:nvPr/>
        </p:nvSpPr>
        <p:spPr>
          <a:xfrm>
            <a:off x="3729038" y="2181743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Usuarios Premium (Pago)</a:t>
            </a:r>
            <a:endParaRPr/>
          </a:p>
        </p:txBody>
      </p:sp>
      <p:graphicFrame>
        <p:nvGraphicFramePr>
          <p:cNvPr id="213" name="Google Shape;213;p17"/>
          <p:cNvGraphicFramePr/>
          <p:nvPr/>
        </p:nvGraphicFramePr>
        <p:xfrm>
          <a:off x="3729038" y="26484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{7B885BC4-579A-45D8-A688-D1FFF70A6BDF}</a:tableStyleId>
              </a:tblPr>
              <a:tblGrid>
                <a:gridCol w="1599900"/>
                <a:gridCol w="1024525"/>
                <a:gridCol w="1080650"/>
                <a:gridCol w="1066950"/>
              </a:tblGrid>
              <a:tr h="4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Segmento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Jugadores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Equipos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12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4" name="Google Shape;214;p17"/>
          <p:cNvSpPr txBox="1"/>
          <p:nvPr/>
        </p:nvSpPr>
        <p:spPr>
          <a:xfrm>
            <a:off x="6562725" y="3283743"/>
            <a:ext cx="477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6562725" y="3650456"/>
            <a:ext cx="477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3729038" y="3077093"/>
            <a:ext cx="15999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5328940" y="3077093"/>
            <a:ext cx="10245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6353473" y="3077093"/>
            <a:ext cx="10806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7434113" y="3077093"/>
            <a:ext cx="1066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3729038" y="3539056"/>
            <a:ext cx="1599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7"/>
          <p:cNvSpPr/>
          <p:nvPr/>
        </p:nvSpPr>
        <p:spPr>
          <a:xfrm>
            <a:off x="5328940" y="3539056"/>
            <a:ext cx="1024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6353473" y="3539056"/>
            <a:ext cx="1080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7434113" y="3539056"/>
            <a:ext cx="106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3729038" y="3986731"/>
            <a:ext cx="15999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5328940" y="3986731"/>
            <a:ext cx="1024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6353473" y="3986731"/>
            <a:ext cx="1080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7434113" y="3986731"/>
            <a:ext cx="1066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PROYECCIÓN DE CRECIMIENTO ANUAL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18"/>
          <p:cNvGraphicFramePr/>
          <p:nvPr/>
        </p:nvGraphicFramePr>
        <p:xfrm>
          <a:off x="571500" y="2476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{7B885BC4-579A-45D8-A688-D1FFF70A6BDF}</a:tableStyleId>
              </a:tblPr>
              <a:tblGrid>
                <a:gridCol w="5252750"/>
                <a:gridCol w="1931925"/>
                <a:gridCol w="1931925"/>
                <a:gridCol w="1932375"/>
              </a:tblGrid>
              <a:tr h="44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Concepto Operativo (COP)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4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Fijos:</a:t>
                      </a: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Des. IA, Infra, Mktg, Adm, Licencias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$52.000.000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$64.000.000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$82.000.000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Var. Unitario Jugador</a:t>
                      </a: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(Mes)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$7.000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$8.000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$9.000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Var. Unitario Equipo</a:t>
                      </a: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 (Mes)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$45.000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$55.000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$65.000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TOTAL VARIABLES (Anual)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$1.920.000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$6.180.000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$16.740.000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9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COSTO TOTAL (Fijo + Var)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$53.920.000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$70.180.000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$98.740.000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" name="Google Shape;235;p18"/>
          <p:cNvSpPr/>
          <p:nvPr/>
        </p:nvSpPr>
        <p:spPr>
          <a:xfrm>
            <a:off x="571500" y="2905125"/>
            <a:ext cx="52527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/>
          <p:nvPr/>
        </p:nvSpPr>
        <p:spPr>
          <a:xfrm>
            <a:off x="5824239" y="2905125"/>
            <a:ext cx="1932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7756177" y="2905125"/>
            <a:ext cx="19320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9688115" y="2905125"/>
            <a:ext cx="19323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571500" y="3367087"/>
            <a:ext cx="5252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5824239" y="3367087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/>
          <p:nvPr/>
        </p:nvSpPr>
        <p:spPr>
          <a:xfrm>
            <a:off x="7756177" y="3367087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9688115" y="3367087"/>
            <a:ext cx="1932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71500" y="3814762"/>
            <a:ext cx="5252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824239" y="3814762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756177" y="3814762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/>
          <p:nvPr/>
        </p:nvSpPr>
        <p:spPr>
          <a:xfrm>
            <a:off x="9688115" y="3814762"/>
            <a:ext cx="1932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571500" y="4262437"/>
            <a:ext cx="5252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5824239" y="4262437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7756177" y="4262437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9688115" y="4262437"/>
            <a:ext cx="1932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71500" y="4710112"/>
            <a:ext cx="5252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824239" y="4710112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7756177" y="4710112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9688115" y="4710112"/>
            <a:ext cx="1932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71500" y="5157787"/>
            <a:ext cx="52527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5824239" y="5157787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7756177" y="5157787"/>
            <a:ext cx="1932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9688115" y="5157787"/>
            <a:ext cx="19323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ESTRUCTURA DE COSTOS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11049000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9"/>
          <p:cNvSpPr txBox="1"/>
          <p:nvPr/>
        </p:nvSpPr>
        <p:spPr>
          <a:xfrm>
            <a:off x="762000" y="4410075"/>
            <a:ext cx="1085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INGRESOS BRU</a:t>
            </a: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TOS</a:t>
            </a:r>
            <a:endParaRPr/>
          </a:p>
        </p:txBody>
      </p:sp>
      <p:pic>
        <p:nvPicPr>
          <p:cNvPr id="268" name="Google Shape;26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4200" y="3262975"/>
            <a:ext cx="691775" cy="3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83850" y="3767750"/>
            <a:ext cx="6917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5" name="Google Shape;275;p20"/>
          <p:cNvGraphicFramePr/>
          <p:nvPr/>
        </p:nvGraphicFramePr>
        <p:xfrm>
          <a:off x="571500" y="2190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{7B885BC4-579A-45D8-A688-D1FFF70A6BDF}</a:tableStyleId>
              </a:tblPr>
              <a:tblGrid>
                <a:gridCol w="4173575"/>
                <a:gridCol w="2167675"/>
                <a:gridCol w="2167825"/>
                <a:gridCol w="2539900"/>
              </a:tblGrid>
              <a:tr h="4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Métricas Financieras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Año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Ingresos Totales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$21.564.000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$64.104.000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$181.566.000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Costos Totales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-$53.920.000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-$70.180.000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Lato"/>
                          <a:ea typeface="Lato"/>
                          <a:cs typeface="Lato"/>
                          <a:sym typeface="Lato"/>
                        </a:rPr>
                        <a:t>-$98.740.000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UTILIDAD OPERATIVA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-$32.356.000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EF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-$6.076.000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761D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$82.826.000</a:t>
                      </a:r>
                      <a:endParaRPr>
                        <a:solidFill>
                          <a:srgbClr val="38761D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6" name="Google Shape;276;p20"/>
          <p:cNvSpPr/>
          <p:nvPr/>
        </p:nvSpPr>
        <p:spPr>
          <a:xfrm>
            <a:off x="571500" y="2619375"/>
            <a:ext cx="41736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4745087" y="2619375"/>
            <a:ext cx="2167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912768" y="2619375"/>
            <a:ext cx="21678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9080450" y="2619375"/>
            <a:ext cx="2540100" cy="19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571500" y="4419600"/>
            <a:ext cx="33147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Mes 26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571500" y="5181600"/>
            <a:ext cx="331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4267200" y="4531518"/>
            <a:ext cx="77343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Las pérdidas iniciales corresponden a la construcción de producto y captura de mercado</a:t>
            </a:r>
            <a:b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i="0" lang="en-US" sz="1425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A mitad del Año 3, TactiCore comienza a generar utilidad real.</a:t>
            </a:r>
            <a:endParaRPr/>
          </a:p>
        </p:txBody>
      </p:sp>
      <p:sp>
        <p:nvSpPr>
          <p:cNvPr id="283" name="Google Shape;283;p20"/>
          <p:cNvSpPr/>
          <p:nvPr/>
        </p:nvSpPr>
        <p:spPr>
          <a:xfrm>
            <a:off x="571500" y="3081337"/>
            <a:ext cx="417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745087" y="3081337"/>
            <a:ext cx="2167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912768" y="3081337"/>
            <a:ext cx="2167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9080450" y="3081337"/>
            <a:ext cx="254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571500" y="3529012"/>
            <a:ext cx="417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745087" y="3529012"/>
            <a:ext cx="2167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912768" y="3529012"/>
            <a:ext cx="2167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9080450" y="3529012"/>
            <a:ext cx="254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571500" y="4024312"/>
            <a:ext cx="417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745087" y="4024312"/>
            <a:ext cx="2167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912768" y="4024312"/>
            <a:ext cx="2167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9080450" y="4024312"/>
            <a:ext cx="25401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UTILIDAD Y PUNTO DE EQUILIBRIO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50556"/>
            <a:ext cx="2619375" cy="81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1375" y="4450556"/>
            <a:ext cx="2619375" cy="81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4450556"/>
            <a:ext cx="2619375" cy="814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01125" y="4450556"/>
            <a:ext cx="2619375" cy="81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571500" y="2383631"/>
            <a:ext cx="4419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50M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571500" y="3336131"/>
            <a:ext cx="441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COP SOLICITADOS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71500" y="3707606"/>
            <a:ext cx="441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20% EQUITY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5372100" y="2840831"/>
            <a:ext cx="66294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La inversión es necesaria para absorber la pérdida operativa de los primeros 2 años mientras se acelera el desarrollo.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714375" y="4593431"/>
            <a:ext cx="245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Desarrollo IA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14375" y="4822031"/>
            <a:ext cx="2333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$20.000.000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3524250" y="4593431"/>
            <a:ext cx="245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Infra. Cloud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3524250" y="4822031"/>
            <a:ext cx="2333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$12.500.000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6334125" y="4593431"/>
            <a:ext cx="245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Marketing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6334125" y="4822031"/>
            <a:ext cx="2333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$10.000.000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9144000" y="4593431"/>
            <a:ext cx="245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Operación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9144000" y="4822031"/>
            <a:ext cx="2333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$7.500.000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OFERTA DE INVERSIÓN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2262"/>
            <a:ext cx="53816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862262"/>
            <a:ext cx="538162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571500" y="223361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Valoración Pre-Money: </a:t>
            </a:r>
            <a:r>
              <a:rPr b="1" i="0" lang="en-US" sz="180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$200.000.000 COP</a:t>
            </a:r>
            <a:endParaRPr/>
          </a:p>
        </p:txBody>
      </p:sp>
      <p:sp>
        <p:nvSpPr>
          <p:cNvPr id="326" name="Google Shape;326;p22"/>
          <p:cNvSpPr txBox="1"/>
          <p:nvPr/>
        </p:nvSpPr>
        <p:spPr>
          <a:xfrm>
            <a:off x="895350" y="3148012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Costo de Duplicación Tecnológica</a:t>
            </a:r>
            <a:endParaRPr/>
          </a:p>
        </p:txBody>
      </p:sp>
      <p:sp>
        <p:nvSpPr>
          <p:cNvPr id="327" name="Google Shape;327;p22"/>
          <p:cNvSpPr txBox="1"/>
          <p:nvPr/>
        </p:nvSpPr>
        <p:spPr>
          <a:xfrm>
            <a:off x="6562725" y="3148012"/>
            <a:ext cx="5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Capital de Trabajo y Activos Intangibles</a:t>
            </a:r>
            <a:endParaRPr/>
          </a:p>
        </p:txBody>
      </p:sp>
      <p:sp>
        <p:nvSpPr>
          <p:cNvPr id="328" name="Google Shape;328;p22"/>
          <p:cNvSpPr txBox="1"/>
          <p:nvPr/>
        </p:nvSpPr>
        <p:spPr>
          <a:xfrm>
            <a:off x="6562725" y="4672012"/>
            <a:ext cx="477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"/>
          <p:cNvSpPr txBox="1"/>
          <p:nvPr/>
        </p:nvSpPr>
        <p:spPr>
          <a:xfrm>
            <a:off x="895350" y="3567112"/>
            <a:ext cx="477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Desarrollo de IA: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$50M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895350" y="3933825"/>
            <a:ext cx="477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Arquitectura Plataforma: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$40M</a:t>
            </a:r>
            <a:endParaRPr/>
          </a:p>
        </p:txBody>
      </p:sp>
      <p:sp>
        <p:nvSpPr>
          <p:cNvPr id="331" name="Google Shape;331;p22"/>
          <p:cNvSpPr txBox="1"/>
          <p:nvPr/>
        </p:nvSpPr>
        <p:spPr>
          <a:xfrm>
            <a:off x="895350" y="4300537"/>
            <a:ext cx="477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Desarrollo SaaS Backend: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$35M</a:t>
            </a:r>
            <a:endParaRPr/>
          </a:p>
        </p:txBody>
      </p:sp>
      <p:sp>
        <p:nvSpPr>
          <p:cNvPr id="332" name="Google Shape;332;p22"/>
          <p:cNvSpPr txBox="1"/>
          <p:nvPr/>
        </p:nvSpPr>
        <p:spPr>
          <a:xfrm>
            <a:off x="6562725" y="3890962"/>
            <a:ext cx="477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Horas Técnicas Invertidas: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$45M</a:t>
            </a:r>
            <a:endParaRPr/>
          </a:p>
        </p:txBody>
      </p:sp>
      <p:sp>
        <p:nvSpPr>
          <p:cNvPr id="333" name="Google Shape;333;p22"/>
          <p:cNvSpPr txBox="1"/>
          <p:nvPr/>
        </p:nvSpPr>
        <p:spPr>
          <a:xfrm>
            <a:off x="6562725" y="4257675"/>
            <a:ext cx="4772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Marca &amp; MVP Estructurado: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$30M</a:t>
            </a:r>
            <a:endParaRPr/>
          </a:p>
        </p:txBody>
      </p:sp>
      <p:sp>
        <p:nvSpPr>
          <p:cNvPr id="334" name="Google Shape;334;p22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VALORIZACIÓN (PRE-MONEY)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6825"/>
            <a:ext cx="11049000" cy="511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3"/>
          <p:cNvSpPr txBox="1"/>
          <p:nvPr/>
        </p:nvSpPr>
        <p:spPr>
          <a:xfrm>
            <a:off x="571500" y="5133975"/>
            <a:ext cx="110490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Inversión inicial: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50M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Al año 3, el 20% de participación tiene un valor de mercado realista de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100M COP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. Un retorno del </a:t>
            </a:r>
            <a:r>
              <a:rPr b="1" i="0" lang="en-US" sz="1650" u="none" cap="none" strike="noStrike">
                <a:solidFill>
                  <a:srgbClr val="DEFF9A"/>
                </a:solidFill>
                <a:latin typeface="Lato"/>
                <a:ea typeface="Lato"/>
                <a:cs typeface="Lato"/>
                <a:sym typeface="Lato"/>
              </a:rPr>
              <a:t>2X</a:t>
            </a:r>
            <a:r>
              <a:rPr b="0" i="0" lang="en-US" sz="16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en valorización pura, con dividendos generados desde el Año 3 (16.5M+). Recuperación total líquida: Año 4.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571500" y="476250"/>
            <a:ext cx="11601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ESTRATEGIA DE SALIDA Y RETORNO (AÑO 3)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